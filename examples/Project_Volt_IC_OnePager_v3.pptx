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94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1530"/>
          </a:solidFill>
          <a:ln/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PROJECT VOLT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97230" y="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6A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OmniGrid Solutions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43600" y="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200" dirty="0">
                <a:solidFill>
                  <a:srgbClr val="B895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STRICTLY CONFIDENTIAL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650" kern="0" spc="100" dirty="0">
                <a:solidFill>
                  <a:srgbClr val="8896A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INVESTMENT COMMITTEE  |  PHASE I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0" y="713232"/>
            <a:ext cx="0" cy="1325880"/>
          </a:xfrm>
          <a:prstGeom prst="line">
            <a:avLst/>
          </a:prstGeom>
          <a:noFill/>
          <a:ln w="508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11480" y="71323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1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I.  BUSINESS OVERVIEW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932688"/>
            <a:ext cx="914400" cy="0"/>
          </a:xfrm>
          <a:prstGeom prst="line">
            <a:avLst/>
          </a:prstGeom>
          <a:noFill/>
          <a:ln w="1270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11480" y="10058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F2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OmniGrid is the market leader in automated switchgear for hyperscale data centers, serving 60+ enterprise clients across North America and APAC with 35% market share.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15% of revenue derives from high-margin (85%) SaaS grid-monitoring software, providing recurring revenue visibility and structural margin uplift.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00600" y="713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1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II.  INVESTMENT THESIS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00600" y="932688"/>
            <a:ext cx="914400" cy="0"/>
          </a:xfrm>
          <a:prstGeom prst="line">
            <a:avLst/>
          </a:prstGeom>
          <a:noFill/>
          <a:ln w="1270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00600" y="10058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2147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Inorganic Growth  </a:t>
            </a:r>
            <a:r>
              <a:rPr lang="en-US" sz="8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 identified bolt-on targets at 6–8x EBITDA; consolidation play in a fragmented market.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850" b="1" dirty="0">
                <a:solidFill>
                  <a:srgbClr val="002147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Operational Alpha  </a:t>
            </a:r>
            <a:r>
              <a:rPr lang="en-US" sz="8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Supply chain optimization targeting 300bps margin expansion over a 3-year horizon.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850" b="1" dirty="0">
                <a:solidFill>
                  <a:srgbClr val="002147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Secular Tailwind  </a:t>
            </a:r>
            <a:r>
              <a:rPr lang="en-US" sz="8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AI-driven power demand provides a non-cyclical revenue floor with 20%+ growth visibility.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2088401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1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III. FINANCIAL SUMMARY &amp; TRANSACTION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11480" y="2280425"/>
            <a:ext cx="8321040" cy="0"/>
          </a:xfrm>
          <a:prstGeom prst="line">
            <a:avLst/>
          </a:prstGeom>
          <a:noFill/>
          <a:ln w="1016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645932"/>
              </p:ext>
            </p:extLst>
          </p:nvPr>
        </p:nvGraphicFramePr>
        <p:xfrm>
          <a:off x="411480" y="2381009"/>
          <a:ext cx="8321039" cy="886968"/>
        </p:xfrm>
        <a:graphic>
          <a:graphicData uri="http://schemas.openxmlformats.org/drawingml/2006/table">
            <a:tbl>
              <a:tblPr/>
              <a:tblGrid>
                <a:gridCol w="113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0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27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(E)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$189.2M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$215.0M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21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$242.0M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0021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$640.0M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21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EBITDA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$47.3M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21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/ LTM EBITDA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0021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21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+290bps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0021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$310.0M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5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11480" y="3368561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1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IV.  KEY RISKS &amp; MITIGANTS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11480" y="3569729"/>
            <a:ext cx="914400" cy="0"/>
          </a:xfrm>
          <a:prstGeom prst="line">
            <a:avLst/>
          </a:prstGeom>
          <a:noFill/>
          <a:ln w="1270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11480" y="3624593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C1F2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Concentration:  </a:t>
            </a:r>
            <a:r>
              <a:rPr lang="en-US" sz="8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Top 3 customers = 40% of revenue.</a:t>
            </a:r>
            <a:r>
              <a:rPr lang="en-US" sz="750" i="1" dirty="0">
                <a:solidFill>
                  <a:srgbClr val="1A7A5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→  5-year MSAs with 98% retention rate.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C1F2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Supply Chain:  </a:t>
            </a:r>
            <a:r>
              <a:rPr lang="en-US" sz="8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Semiconductor volatility exposure.</a:t>
            </a:r>
            <a:r>
              <a:rPr lang="en-US" sz="750" i="1" dirty="0">
                <a:solidFill>
                  <a:srgbClr val="1A7A5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→  Pass-through pricing clauses in all Tier-1 contracts.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C1F2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Key-Man:  </a:t>
            </a:r>
            <a:r>
              <a:rPr lang="en-US" sz="8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Founder-led with limited succession plan.</a:t>
            </a:r>
            <a:r>
              <a:rPr lang="en-US" sz="750" i="1" dirty="0">
                <a:solidFill>
                  <a:srgbClr val="1A7A5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→  Equity rollover + COO hire in Year 1.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625027" y="3368561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1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V.  INDICATIVE RETURNS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625027" y="3569825"/>
            <a:ext cx="914400" cy="0"/>
          </a:xfrm>
          <a:prstGeom prst="line">
            <a:avLst/>
          </a:prstGeom>
          <a:noFill/>
          <a:ln w="1270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625027" y="3688697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147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24.2%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625027" y="4036169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 IRR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270947" y="3688697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147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2.8x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270947" y="4036169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6A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 MOIC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625027" y="4237337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8896A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Assumes 5-year hold  •  Multiple-neutral exit  •  3.5x senior leverage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11480" y="4850892"/>
            <a:ext cx="8321040" cy="0"/>
          </a:xfrm>
          <a:prstGeom prst="line">
            <a:avLst/>
          </a:prstGeom>
          <a:noFill/>
          <a:ln w="762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11480" y="4572979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21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RECOMMENDATION  </a:t>
            </a:r>
            <a:r>
              <a:rPr lang="en-US" sz="8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Proceed to confirmatory due diligence. High-conviction "Buy-and-Build" thesis with defensible market position.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878324"/>
            <a:ext cx="219456" cy="21945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321040" y="4878324"/>
            <a:ext cx="219456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87832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274</Words>
  <Application>Microsoft Office PowerPoint</Application>
  <PresentationFormat>On-screen Show (16:9)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Volt — IC One-Pager</dc:title>
  <dc:subject>PptxGenJS Presentation</dc:subject>
  <dc:creator>Turtle Advisors</dc:creator>
  <cp:lastModifiedBy>Seth Chong</cp:lastModifiedBy>
  <cp:revision>3</cp:revision>
  <dcterms:created xsi:type="dcterms:W3CDTF">2026-03-13T02:22:40Z</dcterms:created>
  <dcterms:modified xsi:type="dcterms:W3CDTF">2026-03-13T02:29:41Z</dcterms:modified>
</cp:coreProperties>
</file>